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1" r:id="rId1"/>
  </p:sldMasterIdLst>
  <p:sldIdLst>
    <p:sldId id="256" r:id="rId2"/>
    <p:sldId id="257" r:id="rId3"/>
    <p:sldId id="263" r:id="rId4"/>
    <p:sldId id="264" r:id="rId5"/>
    <p:sldId id="258" r:id="rId6"/>
    <p:sldId id="261" r:id="rId7"/>
    <p:sldId id="259" r:id="rId8"/>
    <p:sldId id="260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1"/>
    <p:restoredTop sz="94659"/>
  </p:normalViewPr>
  <p:slideViewPr>
    <p:cSldViewPr snapToGrid="0">
      <p:cViewPr varScale="1">
        <p:scale>
          <a:sx n="80" d="100"/>
          <a:sy n="80" d="100"/>
        </p:scale>
        <p:origin x="22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7C9F8C6-0B31-0540-B561-4AB50E240601}" type="datetimeFigureOut">
              <a:rPr lang="en-US" smtClean="0"/>
              <a:t>7/12/25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DBA616E-E16A-2B44-9F85-98BD70BCE33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351171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F8C6-0B31-0540-B561-4AB50E240601}" type="datetimeFigureOut">
              <a:rPr lang="en-US" smtClean="0"/>
              <a:t>7/12/25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616E-E16A-2B44-9F85-98BD70BC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3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C9F8C6-0B31-0540-B561-4AB50E240601}" type="datetimeFigureOut">
              <a:rPr lang="en-US" smtClean="0"/>
              <a:t>7/12/25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BA616E-E16A-2B44-9F85-98BD70BCE3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038783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F8C6-0B31-0540-B561-4AB50E240601}" type="datetimeFigureOut">
              <a:rPr lang="en-US" smtClean="0"/>
              <a:t>7/12/25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616E-E16A-2B44-9F85-98BD70BC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3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F8C6-0B31-0540-B561-4AB50E240601}" type="datetimeFigureOut">
              <a:rPr lang="en-US" smtClean="0"/>
              <a:t>7/12/25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616E-E16A-2B44-9F85-98BD70BC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98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F8C6-0B31-0540-B561-4AB50E240601}" type="datetimeFigureOut">
              <a:rPr lang="en-US" smtClean="0"/>
              <a:t>7/12/25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616E-E16A-2B44-9F85-98BD70BC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8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F8C6-0B31-0540-B561-4AB50E240601}" type="datetimeFigureOut">
              <a:rPr lang="en-US" smtClean="0"/>
              <a:t>7/12/25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616E-E16A-2B44-9F85-98BD70BC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45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C9F8C6-0B31-0540-B561-4AB50E240601}" type="datetimeFigureOut">
              <a:rPr lang="en-US" smtClean="0"/>
              <a:t>7/12/25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BA616E-E16A-2B44-9F85-98BD70BCE3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07647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C9F8C6-0B31-0540-B561-4AB50E240601}" type="datetimeFigureOut">
              <a:rPr lang="en-US" smtClean="0"/>
              <a:t>7/12/25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BA616E-E16A-2B44-9F85-98BD70BCE3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54604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F8C6-0B31-0540-B561-4AB50E240601}" type="datetimeFigureOut">
              <a:rPr lang="en-US" smtClean="0"/>
              <a:t>7/12/25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616E-E16A-2B44-9F85-98BD70BC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5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F8C6-0B31-0540-B561-4AB50E240601}" type="datetimeFigureOut">
              <a:rPr lang="en-US" smtClean="0"/>
              <a:t>7/12/25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616E-E16A-2B44-9F85-98BD70BC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17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D7C9F8C6-0B31-0540-B561-4AB50E240601}" type="datetimeFigureOut">
              <a:rPr lang="en-US" smtClean="0"/>
              <a:t>7/12/25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9DBA616E-E16A-2B44-9F85-98BD70BCE3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62043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99AC643-046E-CC0F-316F-18EFA0529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4653712"/>
            <a:ext cx="9144000" cy="1655762"/>
          </a:xfrm>
        </p:spPr>
        <p:txBody>
          <a:bodyPr>
            <a:normAutofit/>
          </a:bodyPr>
          <a:lstStyle/>
          <a:p>
            <a:r>
              <a:rPr lang="en-US" sz="4800" dirty="0"/>
              <a:t>Silvercrest Consulting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62791A-35AE-4A1C-0C78-ECB780C91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381" y="0"/>
            <a:ext cx="1194619" cy="119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70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F63C-98BF-1323-1616-43CA9E46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Avenir Book" panose="02000503020000020003" pitchFamily="2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0A3AA-780F-D61D-0DD3-440BCDC3B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sz="4000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are Silvercrest Consulting, specializing in providing comprehensive support for industries requiring documentation, process optimization, and licensing from various government agencies, including pollution control, boiler permits, and other regulatory compliance.</a:t>
            </a:r>
            <a:endParaRPr lang="en-IN" sz="4000" kern="100" dirty="0"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4DD60-69A8-9605-E1F0-4940775EE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381" y="0"/>
            <a:ext cx="1194619" cy="119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10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0CC6A-88CC-9FD3-4F8A-57EB0937D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Avenir Book" panose="02000503020000020003" pitchFamily="2" charset="0"/>
              </a:rPr>
              <a:t>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55EF1-3255-EC3C-6B36-63CC47672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6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Helping industries navigate regulatory compliance smoothly </a:t>
            </a:r>
          </a:p>
          <a:p>
            <a:pPr marL="0" indent="0" algn="just">
              <a:buNone/>
            </a:pPr>
            <a:br>
              <a:rPr lang="en-IN" sz="3600" dirty="0">
                <a:latin typeface="Avenir Book" panose="02000503020000020003" pitchFamily="2" charset="0"/>
              </a:rPr>
            </a:br>
            <a:endParaRPr lang="en-US" sz="3600" dirty="0">
              <a:latin typeface="Avenir Book" panose="020005030200000200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6EE331-B41C-AEC4-FE8E-61D3025AE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381" y="0"/>
            <a:ext cx="1194619" cy="119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72139-4160-770A-F387-ED1D6E1EC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5400" b="1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The Need for Regulatory Compliance</a:t>
            </a:r>
            <a:r>
              <a:rPr lang="en-IN" sz="54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 </a:t>
            </a:r>
            <a:endParaRPr lang="en-US" sz="5400" dirty="0">
              <a:latin typeface="Avenir Book" panose="02000503020000020003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CAF71-8D76-FE51-177D-99A7E88B4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6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Increasing government regulations and standards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6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Challenges faced by industries: complex procedures, lengthy approval times, risk of non-compliance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6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Importance of timely licenses for operational continuity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76D4A2-B77F-93E3-A763-7FD964D29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381" y="0"/>
            <a:ext cx="1194619" cy="119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893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5C4D-BDA2-67B5-7F68-E212C5C48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b="1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Our Services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0DD63-1F76-5709-9B7C-6FE9D03F7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Preparation and submission of documentation for environmental and operational licenses </a:t>
            </a:r>
            <a:endParaRPr lang="en-IN" sz="2800" kern="100" dirty="0">
              <a:solidFill>
                <a:srgbClr val="000000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Licensing support</a:t>
            </a:r>
            <a:r>
              <a:rPr lang="en-IN" sz="2800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applications for pollution control,</a:t>
            </a:r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 environmental permissions </a:t>
            </a:r>
            <a:r>
              <a:rPr lang="en-IN" sz="2800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boiler permits </a:t>
            </a:r>
            <a:endParaRPr lang="en-IN" sz="2800" kern="100" dirty="0">
              <a:solidFill>
                <a:srgbClr val="000000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Facilitation of regulatory compliance procedures </a:t>
            </a:r>
            <a:endParaRPr lang="en-IN" sz="2800" kern="100" dirty="0">
              <a:solidFill>
                <a:srgbClr val="000000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Guidance on legal and procedural requirements </a:t>
            </a:r>
            <a:endParaRPr lang="en-IN" sz="2800" kern="100" dirty="0">
              <a:solidFill>
                <a:srgbClr val="000000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Ongoing monitoring and support to ensure compliance</a:t>
            </a:r>
          </a:p>
          <a:p>
            <a:pPr marL="34290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Process consultancy (streamlining approval workflows)</a:t>
            </a:r>
            <a:endParaRPr lang="en-IN" b="0" i="0" u="none" strike="noStrike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  <a:p>
            <a:pPr marL="0" lvl="0" indent="0" algn="just">
              <a:buSzPts val="1000"/>
              <a:buNone/>
              <a:tabLst>
                <a:tab pos="457200" algn="l"/>
              </a:tabLst>
            </a:pPr>
            <a:endParaRPr lang="en-IN" sz="2800" kern="100" dirty="0">
              <a:solidFill>
                <a:srgbClr val="000000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7CADBC-FDBF-C592-D7FA-B5F6F1286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388" y="0"/>
            <a:ext cx="1253612" cy="125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5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18480-3074-7748-235B-22594D782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Avenir Book" panose="02000503020000020003" pitchFamily="2" charset="0"/>
              </a:rPr>
              <a:t>Our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FF3E5-A4B7-8E60-20B2-D60B9FAD2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6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Initial consultation and needs assessment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6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Document preparation and submission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6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Follow-up and communication with authorities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6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Approval and licensing completion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6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Post-approval support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DC810E-1A4C-90A2-7F34-993ABF9A8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388" y="0"/>
            <a:ext cx="1253612" cy="125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45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0D0E2-5EED-1327-D683-5E74C1BC2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b="1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</a:rPr>
              <a:t>Benefits</a:t>
            </a:r>
            <a:r>
              <a:rPr lang="en-IN" sz="5400" dirty="0">
                <a:effectLst/>
                <a:latin typeface="Avenir Book" panose="02000503020000020003" pitchFamily="2" charset="0"/>
              </a:rPr>
              <a:t> </a:t>
            </a:r>
            <a:endParaRPr lang="en-US" sz="5400" dirty="0">
              <a:latin typeface="Avenir Book" panose="02000503020000020003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66237-0336-C00C-7380-44AD27ECE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5100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Expertise in navigating complex government procedures </a:t>
            </a:r>
            <a:endParaRPr lang="en-IN" sz="5100" kern="100" dirty="0">
              <a:solidFill>
                <a:srgbClr val="000000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5100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Reduced processing time and penalties </a:t>
            </a:r>
            <a:endParaRPr lang="en-IN" sz="5100" kern="100" dirty="0">
              <a:solidFill>
                <a:srgbClr val="000000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5100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Risk mitigation through thorough documentation and compliance </a:t>
            </a:r>
            <a:endParaRPr lang="en-IN" sz="5100" kern="100" dirty="0">
              <a:solidFill>
                <a:srgbClr val="000000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5100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Customized solutions per industry requirements</a:t>
            </a:r>
          </a:p>
          <a:p>
            <a:pPr marL="34290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51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Cost-effective solutions</a:t>
            </a:r>
          </a:p>
          <a:p>
            <a:pPr marL="34290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51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Continuous support for compliance management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IN" sz="3600" kern="100" dirty="0">
              <a:solidFill>
                <a:srgbClr val="000000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FBB5C5-B36F-07E9-D844-946216403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388" y="0"/>
            <a:ext cx="1253612" cy="125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30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6B59-646A-4F66-758E-BC12C0AA4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b="1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</a:rPr>
              <a:t>Why Choose Us</a:t>
            </a:r>
            <a:r>
              <a:rPr lang="en-IN" sz="5400" dirty="0">
                <a:effectLst/>
                <a:latin typeface="Avenir Book" panose="02000503020000020003" pitchFamily="2" charset="0"/>
              </a:rPr>
              <a:t> </a:t>
            </a:r>
            <a:endParaRPr lang="en-US" sz="5400" dirty="0">
              <a:latin typeface="Avenir Book" panose="02000503020000020003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C73D0-E437-7F7D-90EB-D0D0C0787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3600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Experienced team with knowledge of government protocols </a:t>
            </a:r>
            <a:endParaRPr lang="en-IN" sz="3600" kern="100" dirty="0">
              <a:solidFill>
                <a:srgbClr val="000000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3600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Dedicated client support </a:t>
            </a:r>
            <a:endParaRPr lang="en-IN" sz="3600" kern="100" dirty="0">
              <a:solidFill>
                <a:srgbClr val="000000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3600" kern="0" dirty="0">
                <a:solidFill>
                  <a:srgbClr val="000000"/>
                </a:solidFill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Proven track record in obtaining necessary licenses efficiently </a:t>
            </a:r>
          </a:p>
          <a:p>
            <a:pPr marL="34290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3600" b="0" i="0" u="none" strike="noStrike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Transparent pricing and timely delivery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IN" sz="3600" kern="100" dirty="0">
              <a:solidFill>
                <a:srgbClr val="000000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E455C4-C385-9297-E6EF-1503F1EF4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388" y="0"/>
            <a:ext cx="1253612" cy="125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038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BA1E-9FE1-ED57-3C25-DC6A26FF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Avenir Book" panose="02000503020000020003" pitchFamily="2" charset="0"/>
              </a:rPr>
              <a:t>Clients Testimonials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3BCF4-019B-2910-8B2A-AF49CB19B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"Their expertise in licensing and documentation processes streamlined our compliance efforts. We saved time and avoided costly errors.” – Chirag Industries </a:t>
            </a:r>
          </a:p>
          <a:p>
            <a:r>
              <a:rPr lang="en-IN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"Thanks to their detailed guidance, our licensing applications were approved quickly, and our documentation is now thorough and organized.” – Highland Agro</a:t>
            </a:r>
            <a:endParaRPr lang="en-IN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"They provided clear, expert advice on complex licensing regulations, which made the entire process much easier for our team.” – Panda Infrastructures</a:t>
            </a:r>
            <a:endParaRPr lang="en-US" dirty="0">
              <a:latin typeface="Avenir Book" panose="020005030200000200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7D229-3639-3890-A5A0-6A6DB27EA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388" y="0"/>
            <a:ext cx="1253612" cy="125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190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F5E7F-0308-11C8-9A77-857028EB6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Avenir Book" panose="02000503020000020003" pitchFamily="2" charset="0"/>
              </a:rPr>
              <a:t>Contact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C3D88-041A-8D5B-EA9A-D7B9C3559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6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Silvercrest Consulting</a:t>
            </a:r>
          </a:p>
          <a:p>
            <a:pPr marL="0" indent="0">
              <a:buNone/>
            </a:pPr>
            <a:r>
              <a:rPr lang="en-IN" sz="3600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Plot No: 3956, 1</a:t>
            </a:r>
            <a:r>
              <a:rPr lang="en-IN" sz="3600" kern="0" baseline="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st</a:t>
            </a:r>
            <a:r>
              <a:rPr lang="en-IN" sz="3600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Floor, Pandra, </a:t>
            </a:r>
          </a:p>
          <a:p>
            <a:pPr marL="0" indent="0">
              <a:buNone/>
            </a:pPr>
            <a:r>
              <a:rPr lang="en-IN" sz="36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Rasulgarh, Bhubaneswar – 751010</a:t>
            </a:r>
          </a:p>
          <a:p>
            <a:pPr marL="0" indent="0">
              <a:buNone/>
            </a:pPr>
            <a:r>
              <a:rPr lang="en-IN" sz="3600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GSTIN:21AFPFS3041D1ZC</a:t>
            </a:r>
          </a:p>
          <a:p>
            <a:pPr marL="0" indent="0">
              <a:buNone/>
            </a:pPr>
            <a:r>
              <a:rPr lang="en-IN" sz="36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7381046111, 7873007666</a:t>
            </a:r>
            <a:br>
              <a:rPr lang="en-IN" sz="36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IN" sz="36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director@silvercrestconsulting.com</a:t>
            </a:r>
            <a:br>
              <a:rPr lang="en-IN" sz="36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IN" sz="36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www.silvercrestconsulting.com</a:t>
            </a:r>
            <a:r>
              <a:rPr lang="en-IN" dirty="0">
                <a:effectLst/>
              </a:rPr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79B992-B02E-0BB7-A1F9-FC5FEB954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388" y="0"/>
            <a:ext cx="1253612" cy="125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62297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{C6C9983C-87D4-4144-81E7-AAEC4984DC72}tf10001072</Template>
  <TotalTime>1420</TotalTime>
  <Words>326</Words>
  <Application>Microsoft Macintosh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Avenir Book</vt:lpstr>
      <vt:lpstr>Calibri</vt:lpstr>
      <vt:lpstr>Franklin Gothic Book</vt:lpstr>
      <vt:lpstr>Symbol</vt:lpstr>
      <vt:lpstr>Crop</vt:lpstr>
      <vt:lpstr>PowerPoint Presentation</vt:lpstr>
      <vt:lpstr>Introduction</vt:lpstr>
      <vt:lpstr>Mission</vt:lpstr>
      <vt:lpstr>The Need for Regulatory Compliance </vt:lpstr>
      <vt:lpstr>Our Services </vt:lpstr>
      <vt:lpstr>Our Process</vt:lpstr>
      <vt:lpstr>Benefits </vt:lpstr>
      <vt:lpstr>Why Choose Us </vt:lpstr>
      <vt:lpstr>Clients Testimonials</vt:lpstr>
      <vt:lpstr>Contact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Abhijeet Mohanty</dc:creator>
  <cp:lastModifiedBy>Abhijeet Mohanty</cp:lastModifiedBy>
  <cp:revision>7</cp:revision>
  <dcterms:created xsi:type="dcterms:W3CDTF">2025-07-11T07:31:41Z</dcterms:created>
  <dcterms:modified xsi:type="dcterms:W3CDTF">2025-07-12T07:12:51Z</dcterms:modified>
</cp:coreProperties>
</file>